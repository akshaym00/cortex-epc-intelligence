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300" b="1">
                <a:solidFill>
                  <a:srgbClr val="67E8F9"/>
                </a:solidFill>
                <a:latin typeface="Aptos"/>
              </a:defRPr>
            </a:pPr>
            <a:r>
              <a:t>PROJECT CORTEX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86868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From project documents</a:t>
            </a:r>
          </a:p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to decision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73152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ptos"/>
              </a:defRPr>
            </a:pPr>
            <a:r>
              <a:t>An AI reasoning platform for data-centre construction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rgbClr val="1D4ED8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36592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5257800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9" name="Oval 8"/>
          <p:cNvSpPr/>
          <p:nvPr/>
        </p:nvSpPr>
        <p:spPr>
          <a:xfrm>
            <a:off x="2834640" y="4617720"/>
            <a:ext cx="502920" cy="502920"/>
          </a:xfrm>
          <a:prstGeom prst="ellipse">
            <a:avLst/>
          </a:prstGeom>
          <a:solidFill>
            <a:srgbClr val="1D4ED8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4736592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257800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4617720"/>
            <a:ext cx="502920" cy="502920"/>
          </a:xfrm>
          <a:prstGeom prst="ellipse">
            <a:avLst/>
          </a:prstGeom>
          <a:solidFill>
            <a:srgbClr val="1D4ED8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4736592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5257800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Reason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4617720"/>
            <a:ext cx="502920" cy="502920"/>
          </a:xfrm>
          <a:prstGeom prst="ellipse">
            <a:avLst/>
          </a:prstGeom>
          <a:solidFill>
            <a:srgbClr val="1D4ED8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736592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5257800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8" name="Oval 17"/>
          <p:cNvSpPr/>
          <p:nvPr/>
        </p:nvSpPr>
        <p:spPr>
          <a:xfrm>
            <a:off x="9006840" y="4617720"/>
            <a:ext cx="502920" cy="502920"/>
          </a:xfrm>
          <a:prstGeom prst="ellipse">
            <a:avLst/>
          </a:prstGeom>
          <a:solidFill>
            <a:srgbClr val="16A34A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736592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5257800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17920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ET AI Hackathon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Project data exists. Project intelligence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881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Critical dependencies are scattered across RFIs, schedules, reports, submittals and email.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10528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PROJECT CORTEX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333756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283464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800" b="1">
                <a:solidFill>
                  <a:srgbClr val="1D4ED8"/>
                </a:solidFill>
                <a:latin typeface="Aptos"/>
              </a:defRPr>
            </a:pPr>
            <a:r>
              <a:t>15K–40K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16352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schedule line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33756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283464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800" b="1">
                <a:solidFill>
                  <a:srgbClr val="0F766E"/>
                </a:solidFill>
                <a:latin typeface="Aptos"/>
              </a:defRPr>
            </a:pPr>
            <a:r>
              <a:t>200+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16352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concurrent contractors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965960"/>
            <a:ext cx="333756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12848"/>
            <a:ext cx="283464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  <a:latin typeface="Aptos"/>
              </a:defRPr>
            </a:pPr>
            <a:r>
              <a:t>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16352"/>
            <a:ext cx="2834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to assess one change manually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33272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400" b="1">
                <a:solidFill>
                  <a:srgbClr val="172033"/>
                </a:solidFill>
                <a:latin typeface="Aptos"/>
              </a:defRPr>
            </a:pPr>
            <a:r>
              <a:t>A vendor delay is not a document problem.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600" b="0">
                <a:solidFill>
                  <a:srgbClr val="DC2626"/>
                </a:solidFill>
                <a:latin typeface="Aptos"/>
              </a:defRPr>
            </a:pPr>
            <a:r>
              <a:t>It is a dependency problem: delivery → installation → testing → commissioning → handover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A living project model—not another document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881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Cortex transforms unstructured facts into typed, persistent and explainable project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10528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PROJECT CORTEX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2194560"/>
            <a:ext cx="841248" cy="658368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359152"/>
            <a:ext cx="8412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12140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ptos"/>
              </a:defRPr>
            </a:pPr>
            <a:r>
              <a:t>AI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822191"/>
            <a:ext cx="1975104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Entities</a:t>
            </a:r>
          </a:p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Relationships</a:t>
            </a:r>
          </a:p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Independent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2024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2194560"/>
            <a:ext cx="841248" cy="658368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359152"/>
            <a:ext cx="8412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46120"/>
            <a:ext cx="212140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ptos"/>
              </a:defRPr>
            </a:pPr>
            <a:r>
              <a:t>Knowledge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822191"/>
            <a:ext cx="1975104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Validated direction</a:t>
            </a:r>
          </a:p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Persistent structure</a:t>
            </a:r>
          </a:p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Stored dependency paths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2024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0" y="2194560"/>
            <a:ext cx="841248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359152"/>
            <a:ext cx="8412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212140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ptos"/>
              </a:defRPr>
            </a:pPr>
            <a:r>
              <a:t>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822191"/>
            <a:ext cx="1975104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Impact propagation</a:t>
            </a:r>
          </a:p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Critical-path forecast</a:t>
            </a:r>
          </a:p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Spec deviation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92024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2194560"/>
            <a:ext cx="841248" cy="65836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359152"/>
            <a:ext cx="8412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46120"/>
            <a:ext cx="212140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700" b="1">
                <a:solidFill>
                  <a:srgbClr val="172033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822191"/>
            <a:ext cx="1975104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Quantified recovery</a:t>
            </a:r>
          </a:p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Named owners</a:t>
            </a:r>
          </a:p>
          <a:p>
            <a:pPr algn="ctr">
              <a:defRPr sz="1200" b="0">
                <a:solidFill>
                  <a:srgbClr val="475569"/>
                </a:solidFill>
                <a:latin typeface="Aptos"/>
              </a:defRPr>
            </a:pPr>
            <a:r>
              <a:t>Explainable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LLMs extract. Deterministic services reason.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881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 clear trust boundary makes results defensible under judge questioning.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10528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PROJECT CORTEX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148840"/>
            <a:ext cx="1353312" cy="841248"/>
          </a:xfrm>
          <a:prstGeom prst="round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" y="2395728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2536" y="2148840"/>
            <a:ext cx="1353312" cy="841248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1" y="2395728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AI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5032" y="2148840"/>
            <a:ext cx="1353312" cy="841248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395728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7528" y="2148840"/>
            <a:ext cx="1353312" cy="841248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2395728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Living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0024" y="2148840"/>
            <a:ext cx="1353312" cy="8412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395728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148840"/>
            <a:ext cx="1353312" cy="841248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14816" y="2395728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Reasoning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15016" y="2148840"/>
            <a:ext cx="1353312" cy="8412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97312" y="2395728"/>
            <a:ext cx="11887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959352"/>
            <a:ext cx="114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Aptos"/>
              </a:defRPr>
            </a:pPr>
            <a:r>
              <a:t>Constrained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9593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Enumerated types + known names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9476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959352"/>
            <a:ext cx="114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Aptos"/>
              </a:defRPr>
            </a:pPr>
            <a:r>
              <a:t>Validated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959352"/>
            <a:ext cx="3566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Supplier direction + deduplication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5488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919472"/>
            <a:ext cx="114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Aptos"/>
              </a:defRPr>
            </a:pPr>
            <a:r>
              <a:t>Calculated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919472"/>
            <a:ext cx="3566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Graph traversal + date arithmetic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75488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19472"/>
            <a:ext cx="114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Aptos"/>
              </a:defRPr>
            </a:pPr>
            <a:r>
              <a:t>Explainable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919472"/>
            <a:ext cx="35661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Every impact retains its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FLAGSHIP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Predictive schedule risk with defensible date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881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 nine-day vendor delay becomes a quantified critical-path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10528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PROJECT CORTEX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438912" cy="438912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38528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ptos"/>
              </a:defRPr>
            </a:pPr>
            <a:r>
              <a:t>15 Jul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38528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Generator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54096"/>
            <a:ext cx="438912" cy="438912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054096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Aptos"/>
              </a:defRPr>
            </a:pPr>
            <a:r>
              <a:t>16 Jul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54096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Electrical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9664"/>
            <a:ext cx="438912" cy="43891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169664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ptos"/>
              </a:defRPr>
            </a:pPr>
            <a:r>
              <a:t>22 Jul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169664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Commissioning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828800"/>
            <a:ext cx="5120640" cy="3520440"/>
          </a:xfrm>
          <a:prstGeom prst="round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267712"/>
            <a:ext cx="44805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3400" b="1">
                <a:solidFill>
                  <a:srgbClr val="DC2626"/>
                </a:solidFill>
                <a:latin typeface="Aptos"/>
              </a:defRPr>
            </a:pPr>
            <a:r>
              <a:t>9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26080"/>
            <a:ext cx="4480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Aptos"/>
              </a:defRPr>
            </a:pPr>
            <a:r>
              <a:t>critical-path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11880"/>
            <a:ext cx="411480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400" b="0">
                <a:solidFill>
                  <a:srgbClr val="172033"/>
                </a:solidFill>
                <a:latin typeface="Aptos"/>
              </a:defRPr>
            </a:pPr>
            <a:r>
              <a:t>Forecast dates shifted deterministically</a:t>
            </a:r>
          </a:p>
          <a:p>
            <a:pPr algn="ctr">
              <a:defRPr sz="1400" b="0">
                <a:solidFill>
                  <a:srgbClr val="172033"/>
                </a:solidFill>
                <a:latin typeface="Aptos"/>
              </a:defRPr>
            </a:pPr>
            <a:r>
              <a:t>Severity derived from duration</a:t>
            </a:r>
          </a:p>
          <a:p>
            <a:pPr algn="ctr">
              <a:defRPr sz="1400" b="0">
                <a:solidFill>
                  <a:srgbClr val="172033"/>
                </a:solidFill>
                <a:latin typeface="Aptos"/>
              </a:defRPr>
            </a:pPr>
            <a:r>
              <a:t>Recovery scenario: ≈ 4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FLAGSHIP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Spec compliance with source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881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 deliberate vendor deviation demonstrates technical assurance beyond document extraction.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10528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PROJECT CORTEX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074920" cy="324612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74920" cy="324612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1D4ED8"/>
                </a:solidFill>
                <a:latin typeface="Aptos"/>
              </a:defRPr>
            </a:pPr>
            <a:r>
              <a:t>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4343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Aptos"/>
              </a:defRPr>
            </a:pPr>
            <a:r>
              <a:t>UPS efficiency at 50%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43434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3200" b="1">
                <a:solidFill>
                  <a:srgbClr val="1D4ED8"/>
                </a:solidFill>
                <a:latin typeface="Aptos"/>
              </a:defRPr>
            </a:pPr>
            <a:r>
              <a:t>≥ 96.0%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297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Electrical Specification 26 33 53 §2.4.1 · page 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48840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Aptos"/>
              </a:defRPr>
            </a:pPr>
            <a:r>
              <a:t>VENDOR SUBMITTAL · DEVIATION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33472"/>
            <a:ext cx="4297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Aptos"/>
              </a:defRPr>
            </a:pPr>
            <a:r>
              <a:t>VoltSafe UPS-01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00400"/>
            <a:ext cx="22860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3200" b="1">
                <a:solidFill>
                  <a:srgbClr val="DC2626"/>
                </a:solidFill>
                <a:latin typeface="Aptos"/>
              </a:defRPr>
            </a:pPr>
            <a:r>
              <a:t>94.5%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3246120"/>
            <a:ext cx="1783080" cy="384048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3346704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Aptos"/>
              </a:defRPr>
            </a:pPr>
            <a:r>
              <a:t>1.5% BELOW 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206240"/>
            <a:ext cx="4297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VoltSafe Submittal VS-442 · page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4241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Aptos"/>
              </a:defRPr>
            </a:pPr>
            <a:r>
              <a:t>Action: reject or request a revised submittal before procurement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Tested at the brief’s stated line-item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881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 repeatable benchmark separates measured capability from roadmap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10528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PROJECT CORTEX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456432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0906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900" b="1">
                <a:solidFill>
                  <a:srgbClr val="67E8F9"/>
                </a:solidFill>
                <a:latin typeface="Aptos"/>
              </a:defRPr>
            </a:pPr>
            <a:r>
              <a:t>15,200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30906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graph 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1874519"/>
            <a:ext cx="3456432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48840"/>
            <a:ext cx="30906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900" b="1">
                <a:solidFill>
                  <a:srgbClr val="67E8F9"/>
                </a:solidFill>
                <a:latin typeface="Aptos"/>
              </a:defRPr>
            </a:pPr>
            <a:r>
              <a:t>29,999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70632"/>
            <a:ext cx="30906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874519"/>
            <a:ext cx="3456432" cy="14173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5" y="2148840"/>
            <a:ext cx="309067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900" b="1">
                <a:solidFill>
                  <a:srgbClr val="67E8F9"/>
                </a:solidFill>
                <a:latin typeface="Aptos"/>
              </a:defRPr>
            </a:pPr>
            <a:r>
              <a:t>14,999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2770632"/>
            <a:ext cx="30906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downstream nodes traversed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20116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200" b="1">
                <a:solidFill>
                  <a:srgbClr val="1D4ED8"/>
                </a:solidFill>
                <a:latin typeface="Aptos"/>
              </a:defRPr>
            </a:pPr>
            <a:r>
              <a:t>0.096 s</a:t>
            </a:r>
          </a:p>
          <a:p>
            <a:pPr algn="ctr">
              <a:defRPr sz="2200" b="1">
                <a:solidFill>
                  <a:srgbClr val="1D4ED8"/>
                </a:solidFill>
                <a:latin typeface="Aptos"/>
              </a:defRPr>
            </a:pPr>
            <a:r>
              <a:t>graph 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114800"/>
            <a:ext cx="20116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200" b="1">
                <a:solidFill>
                  <a:srgbClr val="0F766E"/>
                </a:solidFill>
                <a:latin typeface="Aptos"/>
              </a:defRPr>
            </a:pPr>
            <a:r>
              <a:t>0.013 s</a:t>
            </a:r>
          </a:p>
          <a:p>
            <a:pPr algn="ctr">
              <a:defRPr sz="2200" b="1">
                <a:solidFill>
                  <a:srgbClr val="0F766E"/>
                </a:solidFill>
                <a:latin typeface="Aptos"/>
              </a:defRPr>
            </a:pPr>
            <a:r>
              <a:t>dependency traversal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041648"/>
            <a:ext cx="233172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200" b="1">
                <a:solidFill>
                  <a:srgbClr val="EA580C"/>
                </a:solidFill>
                <a:latin typeface="Aptos"/>
              </a:defRPr>
            </a:pPr>
            <a:r>
              <a:t>NEXT</a:t>
            </a:r>
          </a:p>
          <a:p>
            <a:pPr algn="ctr">
              <a:defRPr sz="1200" b="1">
                <a:solidFill>
                  <a:srgbClr val="EA580C"/>
                </a:solidFill>
                <a:latin typeface="Aptos"/>
              </a:defRPr>
            </a:pPr>
            <a:r>
              <a:t>Chunked async extraction</a:t>
            </a:r>
          </a:p>
          <a:p>
            <a:pPr algn="ctr">
              <a:defRPr sz="1200" b="1">
                <a:solidFill>
                  <a:srgbClr val="EA580C"/>
                </a:solidFill>
                <a:latin typeface="Aptos"/>
              </a:defRPr>
            </a:pPr>
            <a:r>
              <a:t>Graph database</a:t>
            </a:r>
          </a:p>
          <a:p>
            <a:pPr algn="ctr">
              <a:defRPr sz="1200" b="1">
                <a:solidFill>
                  <a:srgbClr val="EA580C"/>
                </a:solidFill>
                <a:latin typeface="Aptos"/>
              </a:defRPr>
            </a:pPr>
            <a:r>
              <a:t>Concurrent-user load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From ‘what does the document say?’ to ‘what happens next?’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0881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Cortex gives project leaders earlier, traceable and actionable visibility.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10528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PROJECT CORTEX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1663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29968"/>
            <a:ext cx="1143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800" b="1">
                <a:solidFill>
                  <a:srgbClr val="1D4ED8"/>
                </a:solidFill>
                <a:latin typeface="Aptos"/>
              </a:defRPr>
            </a:pPr>
            <a:r>
              <a:t>Earlier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2048256"/>
            <a:ext cx="34747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  <a:latin typeface="Aptos"/>
              </a:defRPr>
            </a:pPr>
            <a:r>
              <a:t>See cascading risk when the notice arrives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828800"/>
            <a:ext cx="51663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029968"/>
            <a:ext cx="1143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800" b="1">
                <a:solidFill>
                  <a:srgbClr val="0891B2"/>
                </a:solidFill>
                <a:latin typeface="Aptos"/>
              </a:defRPr>
            </a:pPr>
            <a:r>
              <a:t>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048256"/>
            <a:ext cx="34747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  <a:latin typeface="Aptos"/>
              </a:defRPr>
            </a:pPr>
            <a:r>
              <a:t>Assess dependencies in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46120"/>
            <a:ext cx="51663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447288"/>
            <a:ext cx="1143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Aptos"/>
              </a:defRPr>
            </a:pPr>
            <a:r>
              <a:t>Defensible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3465576"/>
            <a:ext cx="34747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  <a:latin typeface="Aptos"/>
              </a:defRPr>
            </a:pPr>
            <a:r>
              <a:t>Show paths, dates, sources and assumptions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246120"/>
            <a:ext cx="51663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447288"/>
            <a:ext cx="11430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Aptos"/>
              </a:defRPr>
            </a:pPr>
            <a:r>
              <a:t>Actionable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3465576"/>
            <a:ext cx="34747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300" b="0">
                <a:solidFill>
                  <a:srgbClr val="172033"/>
                </a:solidFill>
                <a:latin typeface="Aptos"/>
              </a:defRPr>
            </a:pPr>
            <a:r>
              <a:t>Quantify exposure and recovery options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892040"/>
            <a:ext cx="10058400" cy="8412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175504"/>
            <a:ext cx="9601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Documents → Living model → Knowledge graph → Reasoning →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6053328"/>
            <a:ext cx="36576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000" b="1">
                <a:solidFill>
                  <a:srgbClr val="1D4ED8"/>
                </a:solidFill>
                <a:latin typeface="Aptos"/>
              </a:defRPr>
            </a:pPr>
            <a:r>
              <a:t>Project Cortex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